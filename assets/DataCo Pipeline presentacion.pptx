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44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C1CF-B16A-0BEF-25E3-266E26F8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53BD1-318F-BE0B-E5EC-E9DFA0162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8EABC-5345-F1A9-233A-A1CC2D779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DC730-EAAF-4E65-E6B9-45FD7CAA3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0078D4">
              <a:alpha val="18000"/>
            </a:srgbClr>
          </a:solidFill>
          <a:ln w="12700">
            <a:solidFill>
              <a:srgbClr val="0078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58952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EN LA NUBE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· Caso de Estudio – Microsoft Azure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Jiménez . Mateo Sánchez . Nataly Rivera </a:t>
            </a:r>
            <a:r>
              <a:rPr lang="es-CO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Agudelo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s-CO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Yesica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Carolina Restrepo Acosta .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Tatiana Marín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05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de Antioquia · Institución Universitaria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DataCo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empresa colombiana de distribución con operaciones en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s-CO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CO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s-MX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ctualmente, la empresa presenta problemas debido a que la información se encuentra distribuida en diferentes sistemas aislados como SAP, Oracle, GPS y Salesforce.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249211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34840" y="1249211"/>
            <a:ext cx="82296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9432" y="1304075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manuales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99432" y="1550963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 hábiles para consolidar datos en Excel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044739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434840" y="2044739"/>
            <a:ext cx="8229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99432" y="2099603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2346491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productos no coinciden entre sistemas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840267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434840" y="2840267"/>
            <a:ext cx="82296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99432" y="2895131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Rezago de 72 horas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99432" y="3142019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tomadas con datos desactualizados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635795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34840" y="3635795"/>
            <a:ext cx="82296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99432" y="3690659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99432" y="3937547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correlacionar factura SAP con entrega GPS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4431323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434840" y="4431323"/>
            <a:ext cx="82296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99432" y="4486187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nula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99432" y="4733075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antigua sin capacidad de crecimiento</a:t>
            </a:r>
            <a:endParaRPr lang="en-US" sz="10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C0004A0D-2CA1-4219-720D-4B0C2E1597AB}"/>
              </a:ext>
            </a:extLst>
          </p:cNvPr>
          <p:cNvSpPr/>
          <p:nvPr/>
        </p:nvSpPr>
        <p:spPr>
          <a:xfrm>
            <a:off x="320040" y="2449363"/>
            <a:ext cx="3840480" cy="110976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7922439-BAD8-642E-5FA6-55857C54044C}"/>
              </a:ext>
            </a:extLst>
          </p:cNvPr>
          <p:cNvSpPr/>
          <p:nvPr/>
        </p:nvSpPr>
        <p:spPr>
          <a:xfrm>
            <a:off x="502920" y="247327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la empresa</a:t>
            </a:r>
            <a:endParaRPr lang="es-CO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A20FBE5-9764-E7FC-FF43-356F7AFEE462}"/>
              </a:ext>
            </a:extLst>
          </p:cNvPr>
          <p:cNvSpPr/>
          <p:nvPr/>
        </p:nvSpPr>
        <p:spPr>
          <a:xfrm>
            <a:off x="531759" y="264613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problemas generan retrasos en la toma de decisiones, baja confiabilidad de los reportes y exceso de trabajo manual</a:t>
            </a:r>
            <a:endParaRPr lang="en-US" sz="115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04FAB74B-5B24-1E95-51B4-E2354B4E95F3}"/>
              </a:ext>
            </a:extLst>
          </p:cNvPr>
          <p:cNvSpPr/>
          <p:nvPr/>
        </p:nvSpPr>
        <p:spPr>
          <a:xfrm>
            <a:off x="320040" y="3705429"/>
            <a:ext cx="3840480" cy="1176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6B9C0E4C-043B-920A-ABC5-11655C927D33}"/>
              </a:ext>
            </a:extLst>
          </p:cNvPr>
          <p:cNvSpPr/>
          <p:nvPr/>
        </p:nvSpPr>
        <p:spPr>
          <a:xfrm>
            <a:off x="502920" y="3729345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s-CO" sz="1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43C11C25-0734-2F9A-80C6-3E4DA619A86F}"/>
              </a:ext>
            </a:extLst>
          </p:cNvPr>
          <p:cNvSpPr/>
          <p:nvPr/>
        </p:nvSpPr>
        <p:spPr>
          <a:xfrm>
            <a:off x="521208" y="3976233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pipeline de datos en la nube utilizando servicios de Microsoft Azure para automatizar la integración, transformación y análisis de la información empresarial.</a:t>
            </a:r>
            <a:endParaRPr lang="en-US" sz="115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011683E3-D273-47F7-9F59-75C5DB01A16C}"/>
              </a:ext>
            </a:extLst>
          </p:cNvPr>
          <p:cNvSpPr/>
          <p:nvPr/>
        </p:nvSpPr>
        <p:spPr>
          <a:xfrm>
            <a:off x="4564264" y="951445"/>
            <a:ext cx="1773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identificados</a:t>
            </a:r>
            <a:endParaRPr lang="es-CO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8136"/>
            <a:ext cx="9144000" cy="960120"/>
          </a:xfrm>
          <a:prstGeom prst="rect">
            <a:avLst/>
          </a:prstGeom>
          <a:solidFill>
            <a:srgbClr val="061A30"/>
          </a:solidFill>
          <a:ln w="12700">
            <a:solidFill>
              <a:srgbClr val="061A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SOLUCIÓN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en Microsoft Azure</a:t>
            </a:r>
            <a:endParaRPr lang="en-US" sz="24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7AD8C4C6-8A73-9407-5BC3-8AC7653F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64"/>
          <a:stretch>
            <a:fillRect/>
          </a:stretch>
        </p:blipFill>
        <p:spPr>
          <a:xfrm>
            <a:off x="962198" y="1033272"/>
            <a:ext cx="7069974" cy="3991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TÉCNICA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Arquitectura (ADRs)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170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69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069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Azure Logic Apps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principal del pipeline ETL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seleccionó como herramienta de orquestación porque permite automatizar pipelines ETL, manejar grandes volúmenes de datos y ejecutar procesos automáticos con tolerancia a fallos.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9144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Azure Synapse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transformación distribuida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elegido para realizar las transformaciones debido a su capacidad de procesamiento distribuido mediante Apache </a:t>
            </a:r>
            <a:r>
              <a:rPr lang="es-MX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 facilidad para trabajar con grandes volúmenes de datos.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9144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36667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3666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Blob Storage estándar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Storage (ADLS) Gen2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056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con namespace jerárquico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3068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para almacenar los datos en capas RAW y CURATED, permitiendo mejor organización, gobernanza y escalabilidad de la información.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9144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937760" y="1069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1069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Cosmos 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12893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1508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analítico final (tier gratuito)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17099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seleccionó como almacén analítico porque tiene integración nativa con </a:t>
            </a:r>
            <a:r>
              <a:rPr lang="es-MX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BI, bajo costo y facilidad de administración mediante SQL.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30428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754880" y="2304288"/>
            <a:ext cx="91440" cy="11704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937760" y="23682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Azure Analysis Services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28072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visualización ejecutiva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3008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elegido como herramienta de visualización debido a que permite construir </a:t>
            </a:r>
            <a:r>
              <a:rPr lang="es-MX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r>
              <a:rPr lang="es-MX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interactivos y generar reportes automáticos para apoyar la toma de decisiones.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3977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≤ $80 USD/mes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ETL de Extremo a Extremo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1078992"/>
            <a:ext cx="731520" cy="7315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201168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38328" y="2084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carga archivos CSV desde el panel web o Data Lake. ADF copia de RAW → CURATED cada 4 horas.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32004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081528" y="1078992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081528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41448" y="19202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441448" y="192024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551176" y="2084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ETL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78608" y="2542032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+ Databricks: fechas ISO, deduplicación, corrección de códigos, normalización de nombres.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53128" y="32004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294376" y="1078992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294376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54296" y="19202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54296" y="1920240"/>
            <a:ext cx="20116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64024" y="2084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SQL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91456" y="2542032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carga ~1.200 registros en 4 tablas: hechos_ventas, hechos_inventario, hechos_gps, hechos_crm.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65976" y="32004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507224" y="1078992"/>
            <a:ext cx="731520" cy="7315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507224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867144" y="19202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867144" y="1920240"/>
            <a:ext cx="201168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976872" y="2084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BI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04304" y="2542032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consume Azure SQL; paneles de ventas por región, productos top y tendencias comerciales.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Calidad de datos &gt;96%     ✔  Rezago reducido: 72h → 4h     ✔  ~1.200 registros procesados por ejecución     ✔  Cero intervención manual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078D4">
              <a:alpha val="13000"/>
            </a:srgbClr>
          </a:solidFill>
          <a:ln w="12700">
            <a:solidFill>
              <a:srgbClr val="0078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implementado.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ya no espera 5 días.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7452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785616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datos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(antes: 72 horas)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3017520"/>
            <a:ext cx="187452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606040" y="31272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3785616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transformación ETL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87452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31272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días→0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785616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manuales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87452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903720" y="31272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3785616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piloto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/ Community tiers)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de Antioquia · Computación en la Nube 2026-1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4E20-C313-DCA0-F16E-2CDFD1C0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5A5EA3-9B07-E562-AAF3-5259778F5364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696D4C-66B2-BBEC-923D-79731D54BED8}"/>
              </a:ext>
            </a:extLst>
          </p:cNvPr>
          <p:cNvSpPr/>
          <p:nvPr/>
        </p:nvSpPr>
        <p:spPr>
          <a:xfrm>
            <a:off x="502920" y="35121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</a:t>
            </a: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BA87A68-6F77-1E09-E02B-D2C1C054EDC1}"/>
              </a:ext>
            </a:extLst>
          </p:cNvPr>
          <p:cNvSpPr/>
          <p:nvPr/>
        </p:nvSpPr>
        <p:spPr>
          <a:xfrm>
            <a:off x="5029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de Antioquia · Computación en la Nube 2026-1</a:t>
            </a:r>
            <a:endParaRPr lang="en-US" sz="900" dirty="0"/>
          </a:p>
        </p:txBody>
      </p:sp>
      <p:pic>
        <p:nvPicPr>
          <p:cNvPr id="19" name="VIDEO-2026-05-24-16-44-25">
            <a:hlinkClick r:id="" action="ppaction://media"/>
            <a:extLst>
              <a:ext uri="{FF2B5EF4-FFF2-40B4-BE49-F238E27FC236}">
                <a16:creationId xmlns:a16="http://schemas.microsoft.com/office/drawing/2014/main" id="{25C8F8A8-1F08-257A-917E-77495D27E9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34217" y="775987"/>
            <a:ext cx="5709806" cy="40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0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27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610</Words>
  <Application>Microsoft Office PowerPoint</Application>
  <PresentationFormat>Presentación en pantalla (16:9)</PresentationFormat>
  <Paragraphs>95</Paragraphs>
  <Slides>7</Slides>
  <Notes>7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Datos en la Nube – DataCo</dc:title>
  <dc:subject>PptxGenJS Presentation</dc:subject>
  <dc:creator>PptxGenJS</dc:creator>
  <cp:lastModifiedBy>Yuli Tatiana Marin Rondón</cp:lastModifiedBy>
  <cp:revision>3</cp:revision>
  <dcterms:created xsi:type="dcterms:W3CDTF">2026-05-25T22:27:54Z</dcterms:created>
  <dcterms:modified xsi:type="dcterms:W3CDTF">2026-05-26T00:30:08Z</dcterms:modified>
</cp:coreProperties>
</file>